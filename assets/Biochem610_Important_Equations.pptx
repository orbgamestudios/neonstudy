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a0323ec4149e7" /><Relationship Type="http://schemas.openxmlformats.org/officeDocument/2006/relationships/extended-properties" Target="/docProps/app.xml" Id="Re13a844bf6324bd5" /><Relationship Type="http://schemas.openxmlformats.org/officeDocument/2006/relationships/officeDocument" Target="/ppt/presentation.xml" Id="Re97b5cb9a482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b5b68ee5f40c4"/>
  </p:sldMasterIdLst>
  <p:notesMasterIdLst>
    <p:notesMasterId xmlns:r="http://schemas.openxmlformats.org/officeDocument/2006/relationships" r:id="R9cfbc7ac29cd4da0"/>
  </p:notesMasterIdLst>
  <p:sldIdLst>
    <p:sldId xmlns:r="http://schemas.openxmlformats.org/officeDocument/2006/relationships" id="256" r:id="Ra61a03c14c57428e"/>
    <p:sldId xmlns:r="http://schemas.openxmlformats.org/officeDocument/2006/relationships" id="257" r:id="R7ff396c4523a41a1"/>
    <p:sldId xmlns:r="http://schemas.openxmlformats.org/officeDocument/2006/relationships" id="258" r:id="R983741b6cf4b4de3"/>
    <p:sldId xmlns:r="http://schemas.openxmlformats.org/officeDocument/2006/relationships" id="259" r:id="Rde827b2f8cbc4275"/>
    <p:sldId xmlns:r="http://schemas.openxmlformats.org/officeDocument/2006/relationships" id="260" r:id="Radf3a336de754e97"/>
    <p:sldId xmlns:r="http://schemas.openxmlformats.org/officeDocument/2006/relationships" id="261" r:id="R51a68a5c04ad4623"/>
    <p:sldId xmlns:r="http://schemas.openxmlformats.org/officeDocument/2006/relationships" id="262" r:id="R8dc3aa2afa844b4e"/>
    <p:sldId xmlns:r="http://schemas.openxmlformats.org/officeDocument/2006/relationships" id="263" r:id="R8c879834527b4c96"/>
    <p:sldId xmlns:r="http://schemas.openxmlformats.org/officeDocument/2006/relationships" id="264" r:id="R71e161f74d194579"/>
    <p:sldId xmlns:r="http://schemas.openxmlformats.org/officeDocument/2006/relationships" id="265" r:id="R3a57e6800a8c4803"/>
    <p:sldId xmlns:r="http://schemas.openxmlformats.org/officeDocument/2006/relationships" id="266" r:id="Raff7f31935f34c3a"/>
    <p:sldId xmlns:r="http://schemas.openxmlformats.org/officeDocument/2006/relationships" id="267" r:id="R3574b0ee52974624"/>
    <p:sldId xmlns:r="http://schemas.openxmlformats.org/officeDocument/2006/relationships" id="268" r:id="R6816242ea9224790"/>
    <p:sldId xmlns:r="http://schemas.openxmlformats.org/officeDocument/2006/relationships" id="269" r:id="R641006ae38e7445a"/>
    <p:sldId xmlns:r="http://schemas.openxmlformats.org/officeDocument/2006/relationships" id="270" r:id="R3e5d5ef7712f4e86"/>
    <p:sldId xmlns:r="http://schemas.openxmlformats.org/officeDocument/2006/relationships" id="271" r:id="Rc51d84f3911c4c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c213ada45a4047" /><Relationship Type="http://schemas.openxmlformats.org/officeDocument/2006/relationships/slideMaster" Target="/ppt/slideMasters/slideMaster1.xml" Id="R7cdb5b68ee5f40c4" /><Relationship Type="http://schemas.openxmlformats.org/officeDocument/2006/relationships/notesMaster" Target="/ppt/notesMasters/notesMaster1.xml" Id="R9cfbc7ac29cd4da0" /><Relationship Type="http://schemas.openxmlformats.org/officeDocument/2006/relationships/presProps" Target="/ppt/presProps.xml" Id="Re61b013e3e1d488a" /><Relationship Type="http://schemas.openxmlformats.org/officeDocument/2006/relationships/tableStyles" Target="/ppt/tableStyles.xml" Id="R681e4111a15d4ef8" /><Relationship Type="http://schemas.openxmlformats.org/officeDocument/2006/relationships/slide" Target="/ppt/slides/slide1.xml" Id="Ra61a03c14c57428e" /><Relationship Type="http://schemas.openxmlformats.org/officeDocument/2006/relationships/slide" Target="/ppt/slides/slide2.xml" Id="R7ff396c4523a41a1" /><Relationship Type="http://schemas.openxmlformats.org/officeDocument/2006/relationships/slide" Target="/ppt/slides/slide3.xml" Id="R983741b6cf4b4de3" /><Relationship Type="http://schemas.openxmlformats.org/officeDocument/2006/relationships/slide" Target="/ppt/slides/slide4.xml" Id="Rde827b2f8cbc4275" /><Relationship Type="http://schemas.openxmlformats.org/officeDocument/2006/relationships/slide" Target="/ppt/slides/slide5.xml" Id="Radf3a336de754e97" /><Relationship Type="http://schemas.openxmlformats.org/officeDocument/2006/relationships/slide" Target="/ppt/slides/slide6.xml" Id="R51a68a5c04ad4623" /><Relationship Type="http://schemas.openxmlformats.org/officeDocument/2006/relationships/slide" Target="/ppt/slides/slide7.xml" Id="R8dc3aa2afa844b4e" /><Relationship Type="http://schemas.openxmlformats.org/officeDocument/2006/relationships/slide" Target="/ppt/slides/slide8.xml" Id="R8c879834527b4c96" /><Relationship Type="http://schemas.openxmlformats.org/officeDocument/2006/relationships/slide" Target="/ppt/slides/slide9.xml" Id="R71e161f74d194579" /><Relationship Type="http://schemas.openxmlformats.org/officeDocument/2006/relationships/slide" Target="/ppt/slides/slide10.xml" Id="R3a57e6800a8c4803" /><Relationship Type="http://schemas.openxmlformats.org/officeDocument/2006/relationships/slide" Target="/ppt/slides/slide11.xml" Id="Raff7f31935f34c3a" /><Relationship Type="http://schemas.openxmlformats.org/officeDocument/2006/relationships/slide" Target="/ppt/slides/slide12.xml" Id="R3574b0ee52974624" /><Relationship Type="http://schemas.openxmlformats.org/officeDocument/2006/relationships/slide" Target="/ppt/slides/slide13.xml" Id="R6816242ea9224790" /><Relationship Type="http://schemas.openxmlformats.org/officeDocument/2006/relationships/slide" Target="/ppt/slides/slide14.xml" Id="R641006ae38e7445a" /><Relationship Type="http://schemas.openxmlformats.org/officeDocument/2006/relationships/slide" Target="/ppt/slides/slide15.xml" Id="R3e5d5ef7712f4e86" /><Relationship Type="http://schemas.openxmlformats.org/officeDocument/2006/relationships/slide" Target="/ppt/slides/slide16.xml" Id="Rc51d84f3911c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e1a6104e742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24e0aedcf948dc" /><Relationship Type="http://schemas.openxmlformats.org/officeDocument/2006/relationships/notesMaster" Target="/ppt/notesMasters/notesMaster1.xml" Id="Rf367dbbbdf1c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131d231054e01" /><Relationship Type="http://schemas.openxmlformats.org/officeDocument/2006/relationships/notesMaster" Target="/ppt/notesMasters/notesMaster1.xml" Id="R005a69da7ffb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0a2e6843854502" /><Relationship Type="http://schemas.openxmlformats.org/officeDocument/2006/relationships/notesMaster" Target="/ppt/notesMasters/notesMaster1.xml" Id="R008d7d4a8c5146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85f5666ef4eea" /><Relationship Type="http://schemas.openxmlformats.org/officeDocument/2006/relationships/notesMaster" Target="/ppt/notesMasters/notesMaster1.xml" Id="Rab82e36f97534f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f5437c0e3549b9" /><Relationship Type="http://schemas.openxmlformats.org/officeDocument/2006/relationships/notesMaster" Target="/ppt/notesMasters/notesMaster1.xml" Id="Rf1148a4e419d4c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a87d6dad564a7b" /><Relationship Type="http://schemas.openxmlformats.org/officeDocument/2006/relationships/notesMaster" Target="/ppt/notesMasters/notesMaster1.xml" Id="R5683c8a4df144c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900ef5c2b84d60" /><Relationship Type="http://schemas.openxmlformats.org/officeDocument/2006/relationships/notesMaster" Target="/ppt/notesMasters/notesMaster1.xml" Id="R5d2ae607d56742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d1b7cf39f0455c" /><Relationship Type="http://schemas.openxmlformats.org/officeDocument/2006/relationships/notesMaster" Target="/ppt/notesMasters/notesMaster1.xml" Id="R915ca504975641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a25fd4a7194ebd" /><Relationship Type="http://schemas.openxmlformats.org/officeDocument/2006/relationships/notesMaster" Target="/ppt/notesMasters/notesMaster1.xml" Id="R927d905c24254f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1c2018baf8405e" /><Relationship Type="http://schemas.openxmlformats.org/officeDocument/2006/relationships/notesMaster" Target="/ppt/notesMasters/notesMaster1.xml" Id="Rde0be64c290f4f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6f7c21256b4ac8" /><Relationship Type="http://schemas.openxmlformats.org/officeDocument/2006/relationships/notesMaster" Target="/ppt/notesMasters/notesMaster1.xml" Id="Rbb50068d4daf49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2ad1530ecd4654" /><Relationship Type="http://schemas.openxmlformats.org/officeDocument/2006/relationships/notesMaster" Target="/ppt/notesMasters/notesMaster1.xml" Id="Re13fe7023ea644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b629be62724dd8" /><Relationship Type="http://schemas.openxmlformats.org/officeDocument/2006/relationships/notesMaster" Target="/ppt/notesMasters/notesMaster1.xml" Id="Rb9dd35a95e0a45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c25c196f1145c8" /><Relationship Type="http://schemas.openxmlformats.org/officeDocument/2006/relationships/notesMaster" Target="/ppt/notesMasters/notesMaster1.xml" Id="Rffea20b65d9245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5b31eb87d1433e" /><Relationship Type="http://schemas.openxmlformats.org/officeDocument/2006/relationships/notesMaster" Target="/ppt/notesMasters/notesMaster1.xml" Id="Rafc0d0e83a024d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2303852484483b" /><Relationship Type="http://schemas.openxmlformats.org/officeDocument/2006/relationships/notesMaster" Target="/ppt/notesMasters/notesMaster1.xml" Id="Rb75862a029e546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 from the uploaded Biochem 610 lecture slides and Problem Set 1. The opening slide frames the equations as tools for connecting molecular mechanisms to measurable cell-scale quantities.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 2–10 and Problem Set 1. This is a navigation aid synthesized from the course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2, slides 34–40 (Gibbs free energy, coupling). Values reproduced from the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2, slides 37–40; Problem Set 1 constants list. The lecture uses K for the current product/reactant ratio in one slide; Q is used here for the reaction quotient, reserving Kₑq for equilibrium.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3, slides 24–29; Lecture 6, slides 6–7; Problem Set 1 constants. Assumptions are course estimates, not universal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8, slides 4–6; Problem Set 1, constants and Question 6. Oocyte estimate assumes a sphere of diameter 100 μm.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7, slides 23–29. Spherical-cell relation A/V = 3/r from the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7, slides 13–18; Lecture 4, slides 33–35; Problem Set 1 persistence-length and base-rise constants.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8, slides 24–27; Problem Set 1, Question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9, slides 5–12; Lecture 8, slides 18–20. Rates are rounded to the course’s stated order of magnitude.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9, slides 16–24; Problem Set 1, Questions 5 and 7. Diffusion-time expression follows the course convention t = x²/D.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4, slides 14–16 and 26–30; lecture summary slide 40. Example stiffness follows kBT/⟨x²⟩.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4, slides 33–40; Lecture 7, slides 15–18. FJC/WLC high-force scaling and Kuhn length are stated in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 10, slides 4–6 and 14–17. The 500 nm example is an illustrative calculation from the lecture equation, not a lecture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from Lectures 3 and 6–9 and Problem Set 1 constants. Values are course-scale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 2–4 and 7–9; Problem Set 1 constants. Values are rounded as presented in the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8a6b04bf042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4dc40fed1d4a52" /><Relationship Type="http://schemas.openxmlformats.org/officeDocument/2006/relationships/slideLayout" Target="/ppt/slideLayouts/slideLayout1.xml" Id="R402324b9949443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2324b9949443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ea24d2e674fdb" /><Relationship Type="http://schemas.openxmlformats.org/officeDocument/2006/relationships/notesSlide" Target="/ppt/notesSlides/notesSlide1.xml" Id="R04c42aba9b3741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ae27bcbf54673" /><Relationship Type="http://schemas.openxmlformats.org/officeDocument/2006/relationships/notesSlide" Target="/ppt/notesSlides/notesSlide2.xml" Id="R1e44f7a0dce04a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548d14fc44715" /><Relationship Type="http://schemas.openxmlformats.org/officeDocument/2006/relationships/notesSlide" Target="/ppt/notesSlides/notesSlide3.xml" Id="R15c521722f8b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5584862a5430e" /><Relationship Type="http://schemas.openxmlformats.org/officeDocument/2006/relationships/notesSlide" Target="/ppt/notesSlides/notesSlide4.xml" Id="R82b59ea941654d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e6c24b6d48bf" /><Relationship Type="http://schemas.openxmlformats.org/officeDocument/2006/relationships/notesSlide" Target="/ppt/notesSlides/notesSlide5.xml" Id="Rc4a17b304f084c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b0f2bb3e4f2f" /><Relationship Type="http://schemas.openxmlformats.org/officeDocument/2006/relationships/notesSlide" Target="/ppt/notesSlides/notesSlide6.xml" Id="Raed9fcb50fec48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f751307d84444" /><Relationship Type="http://schemas.openxmlformats.org/officeDocument/2006/relationships/notesSlide" Target="/ppt/notesSlides/notesSlide7.xml" Id="R4cc2022bbdcd45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9980ff034bc9" /><Relationship Type="http://schemas.openxmlformats.org/officeDocument/2006/relationships/notesSlide" Target="/ppt/notesSlides/notesSlide8.xml" Id="R5484af84a03c43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3fcac1ae4456a" /><Relationship Type="http://schemas.openxmlformats.org/officeDocument/2006/relationships/notesSlide" Target="/ppt/notesSlides/notesSlide9.xml" Id="Rd7c57d54898548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4a44894d74a61" /><Relationship Type="http://schemas.openxmlformats.org/officeDocument/2006/relationships/notesSlide" Target="/ppt/notesSlides/notesSlide10.xml" Id="Rb7993b1b7ddb4e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b8163c81042ec" /><Relationship Type="http://schemas.openxmlformats.org/officeDocument/2006/relationships/notesSlide" Target="/ppt/notesSlides/notesSlide11.xml" Id="R1e715542c30f42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e72f4158f4fa1" /><Relationship Type="http://schemas.openxmlformats.org/officeDocument/2006/relationships/notesSlide" Target="/ppt/notesSlides/notesSlide12.xml" Id="Ra3134a99f4774b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e582236414e99" /><Relationship Type="http://schemas.openxmlformats.org/officeDocument/2006/relationships/notesSlide" Target="/ppt/notesSlides/notesSlide13.xml" Id="R7f7e45086b4d40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4ff46dd7a4222" /><Relationship Type="http://schemas.openxmlformats.org/officeDocument/2006/relationships/notesSlide" Target="/ppt/notesSlides/notesSlide14.xml" Id="R9a8d98d409a14f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fd1bfbc2c4623" /><Relationship Type="http://schemas.openxmlformats.org/officeDocument/2006/relationships/notesSlide" Target="/ppt/notesSlides/notesSlide15.xml" Id="R486e1072ee9e4c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755ae65244aa6" /><Relationship Type="http://schemas.openxmlformats.org/officeDocument/2006/relationships/notesSlide" Target="/ppt/notesSlides/notesSlide16.xml" Id="Rb554c4222fd846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2E5E247A-262F-4B73-AD0A-316E439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0100"/>
            <a:ext cx="7620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FB5935-E309-450D-BC6F-AE269A6D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43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Important</a:t>
            </a:r>
          </a:p>
          <a:p xmlns:a="http://schemas.openxmlformats.org/drawingml/2006/main">
            <a:pPr algn="l">
              <a:defRPr sz="43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43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Biochemistry Equations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AFFE854-0B03-4EF4-8831-9644378E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857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95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Variables, units, and when to use each relationship</a:t>
            </a: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F1AE9B5A-474F-4CE1-B798-FDEB23D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age">
            <a:extLst xmlns:a="http://schemas.openxmlformats.org/drawingml/2006/main">
              <a:ext uri="{FF2B5EF4-FFF2-40B4-BE49-F238E27FC236}">
                <a16:creationId xmlns:a16="http://schemas.microsoft.com/office/drawing/2014/main" id="{FAE2540A-0392-47C6-8901-2BD6F2AE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54D9E8"/>
                </a:solidFill>
                <a:latin typeface="Roboto"/>
                <a:ea typeface="Roboto"/>
                <a:cs typeface="Roboto"/>
              </a:rPr>
              <a:t>Free energy  ·  Copy number  ·  Cell scale  ·  Polymer physics</a:t>
            </a:r>
          </a:p>
          <a:p xmlns:a="http://schemas.openxmlformats.org/drawingml/2006/main">
            <a:pPr algn="l">
              <a:defRPr sz="1650" b="0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54D9E8"/>
                </a:solidFill>
                <a:latin typeface="Roboto"/>
                <a:ea typeface="Roboto"/>
                <a:cs typeface="Roboto"/>
              </a:rPr>
              <a:t>Rates  ·  Diffusion  ·  Optical traps  ·  Microscopy</a:t>
            </a:r>
          </a:p>
        </p:txBody>
      </p:sp>
      <p:sp>
        <p:nvSpPr>
          <p:cNvPr id="6" name="course">
            <a:extLst xmlns:a="http://schemas.openxmlformats.org/drawingml/2006/main">
              <a:ext uri="{FF2B5EF4-FFF2-40B4-BE49-F238E27FC236}">
                <a16:creationId xmlns:a16="http://schemas.microsoft.com/office/drawing/2014/main" id="{F3053E93-0224-4E6D-A0C2-20C37AA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53125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· Lectures 1–10 · Equation-focused review</a:t>
            </a:r>
          </a:p>
        </p:txBody>
      </p:sp>
    </p:spTree>
    <p:extLst>
      <p:ext uri="{BB962C8B-B14F-4D97-AF65-F5344CB8AC3E}">
        <p14:creationId xmlns:p14="http://schemas.microsoft.com/office/powerpoint/2010/main" val="1508918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927C87-A900-4066-8F1B-FE20A8ED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Choose the equation from the question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B2BD91-A6B1-4879-A0B8-E1367CF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Identify the unknown first; then match the physical scale and units.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9605663A-2A88-4506-B6E9-D95B7250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025E6C09-67A5-460E-BCA5-8EDD935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51D274-59C4-4C7D-B46A-FE57B997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0EDECAC4-544C-4839-934B-993B3E02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q0">
            <a:extLst xmlns:a="http://schemas.openxmlformats.org/drawingml/2006/main">
              <a:ext uri="{FF2B5EF4-FFF2-40B4-BE49-F238E27FC236}">
                <a16:creationId xmlns:a16="http://schemas.microsoft.com/office/drawing/2014/main" id="{5C4EB719-C6BD-4DE9-BBD5-FD7603F9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Reaction direction or coupling</a:t>
            </a:r>
          </a:p>
        </p:txBody>
      </p:sp>
      <p:sp>
        <p:nvSpPr>
          <p:cNvPr id="8" name="a0">
            <a:extLst xmlns:a="http://schemas.openxmlformats.org/drawingml/2006/main">
              <a:ext uri="{FF2B5EF4-FFF2-40B4-BE49-F238E27FC236}">
                <a16:creationId xmlns:a16="http://schemas.microsoft.com/office/drawing/2014/main" id="{4C271E18-C1F8-48DA-8C04-D43A262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907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54D9E8"/>
                </a:solidFill>
                <a:latin typeface="Roboto"/>
                <a:ea typeface="Roboto"/>
                <a:cs typeface="Roboto"/>
              </a:rPr>
              <a:t>ΔG = ΔH − TΔS;  ΔG = ΔG°′ + RT ln Q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131C66C9-1F4F-4E8B-97EE-53129EE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1">
            <a:extLst xmlns:a="http://schemas.openxmlformats.org/drawingml/2006/main">
              <a:ext uri="{FF2B5EF4-FFF2-40B4-BE49-F238E27FC236}">
                <a16:creationId xmlns:a16="http://schemas.microsoft.com/office/drawing/2014/main" id="{B714198B-4645-41DE-955B-5604790B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How many molecules in a cell?</a:t>
            </a:r>
          </a:p>
        </p:txBody>
      </p:sp>
      <p:sp>
        <p:nvSpPr>
          <p:cNvPr id="11" name="a1">
            <a:extLst xmlns:a="http://schemas.openxmlformats.org/drawingml/2006/main">
              <a:ext uri="{FF2B5EF4-FFF2-40B4-BE49-F238E27FC236}">
                <a16:creationId xmlns:a16="http://schemas.microsoft.com/office/drawing/2014/main" id="{782ED8C2-86AC-429D-AE1C-59BA26FB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0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N = c Nₐ V;  or estimate mass ÷ mass per molecule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451F04AB-9DC8-4E02-A4A2-1712DCDC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2">
            <a:extLst xmlns:a="http://schemas.openxmlformats.org/drawingml/2006/main">
              <a:ext uri="{FF2B5EF4-FFF2-40B4-BE49-F238E27FC236}">
                <a16:creationId xmlns:a16="http://schemas.microsoft.com/office/drawing/2014/main" id="{4A4A1715-C8A9-42A6-AB7E-B4715732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Genome or polymer size</a:t>
            </a:r>
          </a:p>
        </p:txBody>
      </p:sp>
      <p:sp>
        <p:nvSpPr>
          <p:cNvPr id="14" name="a2">
            <a:extLst xmlns:a="http://schemas.openxmlformats.org/drawingml/2006/main">
              <a:ext uri="{FF2B5EF4-FFF2-40B4-BE49-F238E27FC236}">
                <a16:creationId xmlns:a16="http://schemas.microsoft.com/office/drawing/2014/main" id="{8A8C46E1-CB77-43DB-904F-840C54AA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L = Nbp × rise;  Rᵣₘₛ ≈ √(2 ξₚ L)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AB6EF6B1-EE96-42AC-ABC0-56059849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3">
            <a:extLst xmlns:a="http://schemas.openxmlformats.org/drawingml/2006/main">
              <a:ext uri="{FF2B5EF4-FFF2-40B4-BE49-F238E27FC236}">
                <a16:creationId xmlns:a16="http://schemas.microsoft.com/office/drawing/2014/main" id="{304C2FE9-8B99-412F-8DC5-2A211E5A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How noisy is a small count?</a:t>
            </a:r>
          </a:p>
        </p:txBody>
      </p:sp>
      <p:sp>
        <p:nvSpPr>
          <p:cNvPr id="17" name="a3">
            <a:extLst xmlns:a="http://schemas.openxmlformats.org/drawingml/2006/main">
              <a:ext uri="{FF2B5EF4-FFF2-40B4-BE49-F238E27FC236}">
                <a16:creationId xmlns:a16="http://schemas.microsoft.com/office/drawing/2014/main" id="{7B40759F-FD8C-42F2-9390-CBB86D2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relative noise ≈ 1/√N</a:t>
            </a:r>
          </a:p>
        </p:txBody>
      </p:sp>
      <p:sp>
        <p:nvSpPr>
          <p:cNvPr id="18" name="divider">
            <a:extLst xmlns:a="http://schemas.openxmlformats.org/drawingml/2006/main">
              <a:ext uri="{FF2B5EF4-FFF2-40B4-BE49-F238E27FC236}">
                <a16:creationId xmlns:a16="http://schemas.microsoft.com/office/drawing/2014/main" id="{F58CAB9D-F57A-4EFC-A771-499FE41F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q4">
            <a:extLst xmlns:a="http://schemas.openxmlformats.org/drawingml/2006/main">
              <a:ext uri="{FF2B5EF4-FFF2-40B4-BE49-F238E27FC236}">
                <a16:creationId xmlns:a16="http://schemas.microsoft.com/office/drawing/2014/main" id="{6670E941-3F82-457F-AF8F-1512436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How fast must a process run?</a:t>
            </a:r>
          </a:p>
        </p:txBody>
      </p:sp>
      <p:sp>
        <p:nvSpPr>
          <p:cNvPr id="20" name="a4">
            <a:extLst xmlns:a="http://schemas.openxmlformats.org/drawingml/2006/main">
              <a:ext uri="{FF2B5EF4-FFF2-40B4-BE49-F238E27FC236}">
                <a16:creationId xmlns:a16="http://schemas.microsoft.com/office/drawing/2014/main" id="{9A1E8AE0-41B0-4D3D-81BD-6432177E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required rate = amount ÷ time ÷ number of machines</a:t>
            </a:r>
          </a:p>
        </p:txBody>
      </p:sp>
      <p:sp>
        <p:nvSpPr>
          <p:cNvPr id="21" name="divider">
            <a:extLst xmlns:a="http://schemas.openxmlformats.org/drawingml/2006/main">
              <a:ext uri="{FF2B5EF4-FFF2-40B4-BE49-F238E27FC236}">
                <a16:creationId xmlns:a16="http://schemas.microsoft.com/office/drawing/2014/main" id="{8EA19A3A-3EED-4CF0-B8A3-3A3EBE52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q5">
            <a:extLst xmlns:a="http://schemas.openxmlformats.org/drawingml/2006/main">
              <a:ext uri="{FF2B5EF4-FFF2-40B4-BE49-F238E27FC236}">
                <a16:creationId xmlns:a16="http://schemas.microsoft.com/office/drawing/2014/main" id="{7909B65E-9FDC-4774-BD8F-A5966542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Can diffusion deliver it in time?</a:t>
            </a:r>
          </a:p>
        </p:txBody>
      </p:sp>
      <p:sp>
        <p:nvSpPr>
          <p:cNvPr id="23" name="a5">
            <a:extLst xmlns:a="http://schemas.openxmlformats.org/drawingml/2006/main">
              <a:ext uri="{FF2B5EF4-FFF2-40B4-BE49-F238E27FC236}">
                <a16:creationId xmlns:a16="http://schemas.microsoft.com/office/drawing/2014/main" id="{049059A3-92E1-4CDF-BC95-4DD613D8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387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t ≈ x²/D; compare with motor time x/v</a:t>
            </a:r>
          </a:p>
        </p:txBody>
      </p:sp>
      <p:sp>
        <p:nvSpPr>
          <p:cNvPr id="24" name="divider">
            <a:extLst xmlns:a="http://schemas.openxmlformats.org/drawingml/2006/main">
              <a:ext uri="{FF2B5EF4-FFF2-40B4-BE49-F238E27FC236}">
                <a16:creationId xmlns:a16="http://schemas.microsoft.com/office/drawing/2014/main" id="{52467606-D6CE-46C8-B2AC-3E6AB89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q6">
            <a:extLst xmlns:a="http://schemas.openxmlformats.org/drawingml/2006/main">
              <a:ext uri="{FF2B5EF4-FFF2-40B4-BE49-F238E27FC236}">
                <a16:creationId xmlns:a16="http://schemas.microsoft.com/office/drawing/2014/main" id="{DDEECE16-0DBE-4CEC-83FF-951373C9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Force, resolution, or image detail?</a:t>
            </a:r>
          </a:p>
        </p:txBody>
      </p:sp>
      <p:sp>
        <p:nvSpPr>
          <p:cNvPr id="26" name="a6">
            <a:extLst xmlns:a="http://schemas.openxmlformats.org/drawingml/2006/main">
              <a:ext uri="{FF2B5EF4-FFF2-40B4-BE49-F238E27FC236}">
                <a16:creationId xmlns:a16="http://schemas.microsoft.com/office/drawing/2014/main" id="{0756706B-598C-4D25-A971-CF7B08E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48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F = P/c;  k = kBT/⟨x²⟩;  d ≈ λ/(2 NA)</a:t>
            </a:r>
          </a:p>
        </p:txBody>
      </p:sp>
    </p:spTree>
    <p:extLst>
      <p:ext uri="{BB962C8B-B14F-4D97-AF65-F5344CB8AC3E}">
        <p14:creationId xmlns:p14="http://schemas.microsoft.com/office/powerpoint/2010/main" val="875285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47C0D9-626B-4648-8C54-21010049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Free energy predicts direction, not speed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BA1E4-B505-4E6D-9CEF-32B2252D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Use thermodynamics for favorability; use kinetics to ask how quickly the reaction proceeds.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ADD3613C-E0B6-4A76-9BA8-051FF16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31A55642-0058-4615-831E-2DDAF449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B9BDD5-597F-43CF-B6D5-630139DE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03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18DF0BEF-FDFC-4086-B4E5-8C37371F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3377A502-A78B-481D-8433-E58BA8F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5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ΔG = ΔH − TΔS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3BFA65B1-BE2C-4E0A-B7E0-C3F76644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6E72D54F-77D4-4F76-83C4-4DA03A25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ΔG  Gibbs free-energy change (kJ/mol)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ΔH  enthalpy change (kJ/mol)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T  absolute temperature (K)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ΔS  entropy change (kJ/mol·K)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ΔG &lt; 0: forward direction is favorable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ΔG = 0: equilibrium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7A6861F3-4E39-4B3F-AC02-CA975218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957ECC6C-ADEB-48B3-A352-B5761F72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5B7397DF-856A-4FFE-B957-25324CB5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this to decide whether a reaction can proceed spontaneously under the stated conditions. A negative ΔG does not mean the reaction is fast; a barrier can make it slow.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7A8046BE-39AE-460B-B24E-A193BEE6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E1429585-BA74-4974-8B4C-AA6BA3DF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ATP coupling: glucose + Pi → glucose-6-phosphate is +13.8 kJ/mol; ATP hydrolysis is −30.5 kJ/mol. When coupled through a shared intermediate, total ΔG°′ = −16.7 kJ/mol.</a:t>
            </a:r>
          </a:p>
        </p:txBody>
      </p:sp>
    </p:spTree>
    <p:extLst>
      <p:ext uri="{BB962C8B-B14F-4D97-AF65-F5344CB8AC3E}">
        <p14:creationId xmlns:p14="http://schemas.microsoft.com/office/powerpoint/2010/main" val="1252815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266143-A590-44E8-9339-64BF3D4C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Actual concentrations shift ΔG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316E395-861F-427E-822D-DAFD95C4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The reaction quotient captures the concentrations present now, not just the standard state.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3F0EBAE0-7944-484D-A4B0-444AEEE4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35293B9A-C375-45B3-A3B4-210A02D7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9A6899-1943-415E-A213-86EEC029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CF6472FA-6A9B-4D0B-8DA6-82935CB2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B8084167-02E4-4D3E-9556-40EF27F4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2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ΔG = ΔG°′ + RT ln Q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ECF0EC3C-8687-47AC-9C34-37240E84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88DFD859-5B9E-441E-A60A-633414BC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ΔG°′  biochemical standard-state change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  gas constant (8.314 J/mol·K)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T  temperature in kelvin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Q  product/reactant ratio now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Kₑq  equilibrium value of 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At equilibrium: ΔG = 0; ΔG°′ = −RT ln Kₑq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C60B101E-B439-4DCF-BC52-12661569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76C3BD20-DEB4-415E-9B3F-D7858FEA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CCDFE2B0-B327-4F81-9F6B-D0F677A6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when a reaction’s concentrations differ from the biochemical standard state. Removing product lowers Q and can help drive a reaction forward.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DA5A305F-174F-46A1-AAEE-CC43DA85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DFFA6A38-29FC-4D28-9A54-42EFF04C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At room temperature, changing Q by a factor of 10 changes RT ln Q by about 5.7 kJ/mol. Keep energy units consistent: R in J gives ΔG in J/mol.</a:t>
            </a:r>
          </a:p>
        </p:txBody>
      </p:sp>
    </p:spTree>
    <p:extLst>
      <p:ext uri="{BB962C8B-B14F-4D97-AF65-F5344CB8AC3E}">
        <p14:creationId xmlns:p14="http://schemas.microsoft.com/office/powerpoint/2010/main" val="1362710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EFCF5D-5495-41C0-8D51-69D93B9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Estimate protein copies from cell mass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6641D1-C66D-481D-8420-87AE73CD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A short mass balance converts cell volume into an approximate molecule count.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F5B682F1-B861-4CE6-9322-1A65DE6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AAC4F30B-BD77-4BB8-A50D-211DA18D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081979-517B-40E2-8928-0EF8873F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5186A820-0F34-4765-8828-19B14DE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C35F13EA-D39D-44FB-9D5A-A6461FE8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Nₚᵣₒₜ ≈ ρV fᵈʳʸ fₚᵣₒₜ ÷ mₚᵣₒₜ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E1A677DA-11D0-4F3A-B2E3-9FD5A8F4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7C6CC750-1B09-4E51-BB96-8AAAC92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ρ  cell density (g/L)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V  cell volume (L)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fᵈʳʸ = 1 − water fraction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fₚᵣₒₜ  protein fraction of dry mass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mₚᵣₒₜ = nₐₐ × (mean Da/aa) × (g/Da)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Nₚᵣₒₜ  number of protein molecules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2329A157-21C1-4307-8168-2BFB5B7B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BA862542-652F-4477-AD29-C5C21522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78CB8CBE-07E1-4160-971E-6E0EFED8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for a whole-cell abundance estimate when you know volume, composition, and an average protein size. Convert every mass to grams before dividing.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6AB07C0-3195-4E81-AB71-08B72806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D38AA2C4-3069-430D-B58B-35255B7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Lecture assumptions: V = 1 fL, ρ ≈ 1000 g/L, 70% water, protein = 50% of dry mass, average protein = 300 aa × 100 Da. Result: about 3 × 10⁶ proteins per E. coli.</a:t>
            </a:r>
          </a:p>
        </p:txBody>
      </p:sp>
    </p:spTree>
    <p:extLst>
      <p:ext uri="{BB962C8B-B14F-4D97-AF65-F5344CB8AC3E}">
        <p14:creationId xmlns:p14="http://schemas.microsoft.com/office/powerpoint/2010/main" val="468044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67986C-1BEB-4FE8-A565-99CDED25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Convert concentration to molecule count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D4351F-70F2-4D48-9982-F6BEE1A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This connects test-tube units (molarity) to the number of molecules inside a cell.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4C762350-1C12-4D55-81EA-3892D105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89C0DA64-D9AE-498E-9514-6FC30BC1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F20506-E0E2-4189-AFEA-CCB1658D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06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9F518078-FB9D-4DAA-BCEA-333013F8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3803BF68-7DB0-4CA4-8B73-872654BD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N = c Nₐ V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9E4708C0-224A-4740-984C-E27E90BE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C77A1996-06D8-4C2A-B6F2-F7EC5240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  number of molecules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  concentration (mol/L)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Nₐ  Avogadro constant (6.02 × 10²³ mol⁻¹)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V  volume in liters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For one molecule: c = 1/(NₐV)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D9E233A2-A5DB-4E3B-B0EB-A4EB64A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8DC2AE55-3577-4D4A-A7B1-9824E05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2117F665-F896-45A0-BC20-5F5BBF5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when a problem gives concentration and cell volume. Convert μm³ to liters before multiplying: 1 μm³ = 10⁻¹⁵ L.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980AAB76-CE6F-4350-89E7-9FC8B51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B65DCA30-A395-4103-A74F-780252E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At 1 nM in a 1 fL E. coli: N ≈ 0.60 molecule, so the lecture’s order-of-magnitude rule is “about one.” In a 100 μm-diameter oocyte: about 315,000 molecules.</a:t>
            </a:r>
          </a:p>
        </p:txBody>
      </p:sp>
    </p:spTree>
    <p:extLst>
      <p:ext uri="{BB962C8B-B14F-4D97-AF65-F5344CB8AC3E}">
        <p14:creationId xmlns:p14="http://schemas.microsoft.com/office/powerpoint/2010/main" val="2055985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ECA85E-1C92-454E-910E-2B91162F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Cell geometry sets exchange limits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938A06F-DDB9-44EE-86AE-BE51EAE5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Surface scales differently from volume as a cell grows.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A1A2A806-C8EF-4EC4-866B-79824F05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6EEB659A-5292-4666-B9A5-0334C710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5ED832-D66E-454A-93DB-232E5B69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07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43329693-BACA-4ACC-8AAC-4520961C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8967B668-6A98-49F0-8B44-BCD0821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V = ⁴⁄₃πr³     A/V = 3/r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61A90109-043B-4E0F-8EA4-B2F819D0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9AA7EDCD-0154-4215-901A-E7637B88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  radius of a spherical cell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V  volume (length³)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A  surface area (length²)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A/V  surface area per unit volume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If diameter is given: r = diameter/2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FC086E3A-9222-4625-A341-D842B41E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E3E416EB-A632-42F3-B2C5-52A7FC0B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70A27725-3E11-4162-B592-DD4C26F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A/V to reason about transport across the membrane versus demand throughout the cytoplasm. As r grows, surface area available per volume falls.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3E86597E-C3DC-4216-B28D-63CD47C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DB05AB7B-13D3-4F6D-B365-7E257E3B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Lecture 7 contrasts cells that address different limits: Thiomargarita keeps cytoplasm in a thin shell; Epulopiscium carries many genome copies. There is no single size limit.</a:t>
            </a:r>
          </a:p>
        </p:txBody>
      </p:sp>
    </p:spTree>
    <p:extLst>
      <p:ext uri="{BB962C8B-B14F-4D97-AF65-F5344CB8AC3E}">
        <p14:creationId xmlns:p14="http://schemas.microsoft.com/office/powerpoint/2010/main" val="1612146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4335AE-D783-4D5B-B6A4-ABCB244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A long polymer is not a straight rod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FE6CEB-F1AB-42C3-AEFB-1B098CF1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Contour length gives the fully extended size; persistence length sets the random-coil scale.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51C9B49D-ED88-4852-8DEE-8390638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235FD751-466B-4C6D-8221-6075F13C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234DA2-418C-4217-BEC7-43456030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08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93116FD5-27B7-4767-BE3D-834F05A0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340271F2-BC67-4C59-ACD1-7937E546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9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L = Nbp × 0.34 nm</a:t>
            </a:r>
          </a:p>
          <a:p xmlns:a="http://schemas.openxmlformats.org/drawingml/2006/main">
            <a:pPr algn="l">
              <a:defRPr sz="29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9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Rᵣₘₛ ≈ √(2 ξₚ L)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E94C73B8-63B3-4BD8-ABE4-512258FD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2922ABFE-B2C6-4127-8200-406E31CC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L  contour length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Nbp  number of base pairs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0.34 nm/bp  rise per base pair in dsDNA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ξₚ  persistence length (dsDNA ≈ 50 nm)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Rᵣₘₛ  root-mean-square coil size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one length unit throughout.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5B517E33-22ED-4663-B1E1-2FC68364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622090D0-74C3-4514-BEBA-4C93C6BE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8660E932-26E5-4AF6-B2DC-3995FBA5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the first relation to stretch the sequence out. Use the second for the approximate size of a freely coiled, semiflexible chain; do not compare contour length directly with cell size.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7D429B9D-3BD2-4F52-B356-7DAF007A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354CD51A-AC43-4F4D-AE83-DCFA9600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E. coli: 4.6 × 10⁶ bp gives L ≈ 1.6 mm. With ξₚ = 50 nm, Rᵣₘₛ ≈ 12 μm, far larger than a ~2 μm cell.</a:t>
            </a:r>
          </a:p>
        </p:txBody>
      </p:sp>
    </p:spTree>
    <p:extLst>
      <p:ext uri="{BB962C8B-B14F-4D97-AF65-F5344CB8AC3E}">
        <p14:creationId xmlns:p14="http://schemas.microsoft.com/office/powerpoint/2010/main" val="1309561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5A87A0-705F-4865-BDF8-D300F90E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Low copy numbers are noisy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AF6053-5FDF-4D2C-8C19-020ECE80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Counting noise falls only with the square root of the number counted.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7E2D08E1-A561-4186-B601-A591321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52CBB7E6-38CD-4B0A-9608-72156E7B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15B7D3-9604-458D-90E6-B11312F9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09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6FABE703-AB9F-4DA8-B0AC-9A850082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5727F13F-01CC-4A26-AC6E-27B9B3E4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90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σ/⟨N⟩ ≈ 1/√N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A0629B67-8C87-4306-AC26-3E859653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300BBB43-418E-42FD-8F70-D39B31AF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  number of independent molecules/events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⟨N⟩  mean count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σ  standard deviation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σ/⟨N⟩  relative noise (coefficient of variation)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For binomial partitioning, this is the same 1/√N scaling.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6776A544-467E-4719-891C-88E63966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6DF8AB30-7ED2-47AD-A70C-7DB65423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84750257-9D5A-44B2-891C-8149873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to judge whether an average concentration describes an individual cell. At low N, cell-to-cell variation can be large even when the population mean is measured well.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C58419B1-A21C-44EA-BF9A-D42647DF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8608F542-325D-458B-9C6E-35EA01C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N = 10 gives ~32% relative noise; N = 100 gives 10%; N = 10⁶ gives 0.1%. For 2 versus 1000 coin flips, the noise ratio is √(1000/2) ≈ 22.4.</a:t>
            </a:r>
          </a:p>
        </p:txBody>
      </p:sp>
    </p:spTree>
    <p:extLst>
      <p:ext uri="{BB962C8B-B14F-4D97-AF65-F5344CB8AC3E}">
        <p14:creationId xmlns:p14="http://schemas.microsoft.com/office/powerpoint/2010/main" val="1302105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0C5A82-A28E-4B27-AA9F-1D841A6B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Estimate rates by dividing demand by time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D21794-833C-4CB9-B968-DF364664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A cell’s build rate follows from what must be made before division.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7717F665-0AAF-4114-9AED-9206EC6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585F5020-8172-4D64-A771-C916381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7A40D49-7500-41EC-A344-0204875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6BA2C6ED-56AB-4687-9D3D-52D909F8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2CD98BC3-EF57-45AC-BAAE-367B985A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6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rate per machine = amount ÷ time ÷ machines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4C4FF33D-F9B1-48D1-9141-6BA3509E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2D9C671E-3930-401F-A44C-D0C422C2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amount  bp, amino acids, lipids, etc.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time  cell-cycle duration (s)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machines  active forks, ribosomes, or other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Keep “per cell” and “per machine” distinct.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6DC7F1AC-2EE1-4B90-885B-381D4DF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EE42ED59-B17D-416D-8E47-9AB5FC85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55BC3F80-9320-428B-88AD-AD7A0BFB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when the lecture gives a cell-cycle target and asks how fast a molecular machine must work. First compute the total demand per second; divide by parallel machines last.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A30F3BBF-50BC-4532-9AD5-B1EFA12E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7EE29956-D76A-4040-ABA4-E824FE80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Translation estimate: 3 × 10⁶ proteins × 300 aa ÷ 3000 s ÷ 20,000 ribosomes ≈ 15 aa/s/ribosome. Replication across two forks is roughly 10³ bp/s per fork.</a:t>
            </a:r>
          </a:p>
        </p:txBody>
      </p:sp>
    </p:spTree>
    <p:extLst>
      <p:ext uri="{BB962C8B-B14F-4D97-AF65-F5344CB8AC3E}">
        <p14:creationId xmlns:p14="http://schemas.microsoft.com/office/powerpoint/2010/main" val="11791274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657A9-A99C-430F-8D96-6B60C216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Diffusion time grows with distance squared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35ED59-7FBF-4E5F-879F-06BAD42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Doubling the travel distance makes diffusion about four times slower.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367AE09B-6E90-40A3-AA33-56E7B161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E6A99FF5-F674-4831-BD00-076FE159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0DE64F-5625-4760-A68B-F466552D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11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B10C115C-AF81-4E3D-9391-2C4D555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5FD6799C-20A8-4A39-8BCE-5FC5E741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9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t_diff ≈ x²/D</a:t>
            </a:r>
          </a:p>
          <a:p xmlns:a="http://schemas.openxmlformats.org/drawingml/2006/main">
            <a:pPr algn="l">
              <a:defRPr sz="29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9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t_motor ≈ x/v   ⇒   x* ≈ D/v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44654AFB-61D7-4FF7-9DCD-BE40640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992C77D6-A619-4811-97B4-A1E49BD8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x  travel distance (μm)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D  diffusion coefficient (μm²/s)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v  motor speed (μm/s)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t  time (s)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x*  distance where the two time estimates match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E96619EC-5EFA-4A59-9953-D662DE37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BA25C0E8-2353-452E-A1D2-C29D1C04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90B520E4-48CA-450C-9B0C-EFBD01EE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x²/D for a diffusion-time estimate, then compare it with x/v if a motor is available. Course convention omits geometry-dependent factors of order one.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87A40C8A-006A-4A55-8903-3970FCD9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85B98FE0-96F1-493F-9614-DC8D2C08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For D ≈ 100 μm²/s and kinesin v ≈ 1 μm/s, x* ≈ 100 μm. At x = 10⁵ μm, diffusion would take about 10⁸ s (~3 years).</a:t>
            </a:r>
          </a:p>
        </p:txBody>
      </p:sp>
    </p:spTree>
    <p:extLst>
      <p:ext uri="{BB962C8B-B14F-4D97-AF65-F5344CB8AC3E}">
        <p14:creationId xmlns:p14="http://schemas.microsoft.com/office/powerpoint/2010/main" val="1932663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CEA66A-7CC7-4166-AF58-C65E48F4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Optical traps turn light into force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F2DF43-B035-4A04-AD53-34ABBAB7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Radiation pressure supplies force; thermal motion calibrates the trap stiffness.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8AC0D5CB-B643-4F1A-8597-66FBDC4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BEEB7FBF-9A94-4FA4-BFB4-614E261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4C963A-DFE9-4F8F-AB28-616A0C9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12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DCDD5360-A131-47B8-89CC-E7860F85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CF012E8E-82BF-4EEF-A453-685B6E07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F = P/c</a:t>
            </a:r>
          </a:p>
          <a:p xmlns:a="http://schemas.openxmlformats.org/drawingml/2006/main">
            <a:pPr algn="l">
              <a:defRPr sz="31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⟨x²⟩ = kBT/k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20E6B192-4B2A-48F8-99FF-E60F53DD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A0757D54-3129-4877-8810-B0737ABD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P  optical power intercepted by bead (W)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  speed of light (m/s)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F  force (N; convert to pN)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k  trap stiffness (pN/nm)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⟨x²⟩  positional variance (nm²)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kB T ≈ 4.1 pN·nm at room temperature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6A094A70-6B01-4F01-B9A0-5684864B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2C31B2BF-2512-4D0E-AED0-BE9D1C3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86162B42-635E-48AE-93CA-AA041F5D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F = P/c for an absorbing surface; a perfect mirror doubles the pressure. Use equipartition to infer k from the bead’s thermal variance, then Hooke’s law F = −kx for a small displacement.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CDE1D15B-68C1-495E-A07B-6B0335A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9272ABEE-6F55-41FD-B1F8-2ECFE29D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3 mW intercepted by an absorbing bead gives F ≈ 10 pN. If ⟨x²⟩ = 4.1 nm², then k ≈ 1 pN/nm.</a:t>
            </a:r>
          </a:p>
        </p:txBody>
      </p:sp>
    </p:spTree>
    <p:extLst>
      <p:ext uri="{BB962C8B-B14F-4D97-AF65-F5344CB8AC3E}">
        <p14:creationId xmlns:p14="http://schemas.microsoft.com/office/powerpoint/2010/main" val="2260964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367659-472B-46DC-B221-21B70BA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Persistence length describes polymer stiffness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C3B39D-6369-4E67-91CA-D5D7C30C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Thermal motion bends a chain; stretching shifts its probability toward extended shapes.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5D9BB0C8-092B-461C-834C-7011ED4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284D889C-2C85-4725-9470-1DDBC4C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119AD0-473B-47F0-9A1C-08F73108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13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8903EEF9-E3C8-4A3A-9075-744B2F69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280E14DD-1EBC-4E7D-862B-5D30CC51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00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⟨t(0)·t(s)⟩ = e^(−s/ξₚ)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87A9ACBE-5507-4D13-9053-FC9B6AA0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99AD7D1F-72D1-4F5B-B6BA-CFC4857A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t(s)  unit tangent along the chain at contour position s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s  contour distance between tangents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ξₚ  persistence length: distance over which direction is remembered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b_Kuhn = 2ξₚ;  N_Kuhn b_Kuhn = L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7E20DA60-957C-4DB2-8EC8-7E7D431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51AB23AF-D45A-4264-9BA2-354232B7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AC26C32E-5AF3-43E2-AB17-BA93D85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the correlation law to interpret stiffness: a larger ξₚ means the chain stays aligned over a longer distance. For dsDNA, ξₚ ≈ 50 nm and the Kuhn length is ≈100 nm.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4DB67221-8154-4501-B5DB-6A261718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125ADEE6-5F80-4FF3-B3C3-8FD03950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For a freely jointed chain: z/L = coth(fb/kBT) − kBT/(fb), where f is force, b is Kuhn length, z is extension, and L is contour length. In the high-force limit, 1−z/L scales as 1/f (FJC) versus 1/√f (WLC).</a:t>
            </a:r>
          </a:p>
        </p:txBody>
      </p:sp>
    </p:spTree>
    <p:extLst>
      <p:ext uri="{BB962C8B-B14F-4D97-AF65-F5344CB8AC3E}">
        <p14:creationId xmlns:p14="http://schemas.microsoft.com/office/powerpoint/2010/main" val="16747643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8C6FD2-C420-4D47-AE6D-A9CE50F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Resolution depends on wavelength and NA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5366A1-65AF-47FB-9270-4C79FCB1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Magnification enlarges an image; numerical aperture controls how much detail is resolved.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BD63D474-05E0-4AEA-80FE-DA7FD7C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412FC7B1-E70E-4A49-93E8-32E73ED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DF9A90-1710-4A15-A3FD-64BF57A2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14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6A4CC5E5-BAC1-43DC-A2A0-4CFBDF7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53342A6C-2642-457F-8F96-B7C93716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37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NA = n sin θ</a:t>
            </a:r>
          </a:p>
          <a:p xmlns:a="http://schemas.openxmlformats.org/drawingml/2006/main">
            <a:pPr algn="l">
              <a:defRPr sz="337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337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d ≈ λ/(2 NA)</a:t>
            </a:r>
          </a:p>
        </p:txBody>
      </p:sp>
      <p:sp>
        <p:nvSpPr>
          <p:cNvPr id="8" name="variables-label">
            <a:extLst xmlns:a="http://schemas.openxmlformats.org/drawingml/2006/main">
              <a:ext uri="{FF2B5EF4-FFF2-40B4-BE49-F238E27FC236}">
                <a16:creationId xmlns:a16="http://schemas.microsoft.com/office/drawing/2014/main" id="{4582F333-5191-4F9E-A14A-D6E681E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VARIABLES</a:t>
            </a:r>
          </a:p>
        </p:txBody>
      </p:sp>
      <p:sp>
        <p:nvSpPr>
          <p:cNvPr id="9" name="variables">
            <a:extLst xmlns:a="http://schemas.openxmlformats.org/drawingml/2006/main">
              <a:ext uri="{FF2B5EF4-FFF2-40B4-BE49-F238E27FC236}">
                <a16:creationId xmlns:a16="http://schemas.microsoft.com/office/drawing/2014/main" id="{9740F64D-9B1C-48BC-83D2-F631C51F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572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NA  numerical aperture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  refractive index of the medium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θ  half-angle of the collected light cone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d  minimum resolvable separation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λ  illumination wavelength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Smaller d means finer resolution.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892F7971-955C-49E9-86D9-800789C0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85925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title">
            <a:extLst xmlns:a="http://schemas.openxmlformats.org/drawingml/2006/main">
              <a:ext uri="{FF2B5EF4-FFF2-40B4-BE49-F238E27FC236}">
                <a16:creationId xmlns:a16="http://schemas.microsoft.com/office/drawing/2014/main" id="{0ABFE6F7-F367-42EE-9ADC-2E35ECDB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WHEN TO USE IT</a:t>
            </a:r>
          </a:p>
        </p:txBody>
      </p:sp>
      <p:sp>
        <p:nvSpPr>
          <p:cNvPr id="12" name="use-copy">
            <a:extLst xmlns:a="http://schemas.openxmlformats.org/drawingml/2006/main">
              <a:ext uri="{FF2B5EF4-FFF2-40B4-BE49-F238E27FC236}">
                <a16:creationId xmlns:a16="http://schemas.microsoft.com/office/drawing/2014/main" id="{6222B598-2F69-4F80-9FA5-8ADF97A4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Use Abbe’s relation to estimate the diffraction-limited spacing. Increase NA or shorten λ to resolve closer points. More magnification alone does not restore missing detail.</a:t>
            </a:r>
          </a:p>
        </p:txBody>
      </p:sp>
      <p:sp>
        <p:nvSpPr>
          <p:cNvPr id="13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06CFFEEC-437C-452F-B2E9-ED7A5362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COURSE EXAMPLE</a:t>
            </a:r>
          </a:p>
        </p:txBody>
      </p:sp>
      <p:sp>
        <p:nvSpPr>
          <p:cNvPr id="14" name="example-copy">
            <a:extLst xmlns:a="http://schemas.openxmlformats.org/drawingml/2006/main">
              <a:ext uri="{FF2B5EF4-FFF2-40B4-BE49-F238E27FC236}">
                <a16:creationId xmlns:a16="http://schemas.microsoft.com/office/drawing/2014/main" id="{18E0135A-4E5D-4BEE-BA8D-FD1C22E9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For λ = 500 nm and NA = 1.25: d ≈ 200 nm. Total magnification is separate: Mtotal = Mobjective × Meyepiece.</a:t>
            </a:r>
          </a:p>
        </p:txBody>
      </p:sp>
    </p:spTree>
    <p:extLst>
      <p:ext uri="{BB962C8B-B14F-4D97-AF65-F5344CB8AC3E}">
        <p14:creationId xmlns:p14="http://schemas.microsoft.com/office/powerpoint/2010/main" val="10701180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01229E-72AF-474E-BDA2-6FED128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A reliable calculation has four checks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02BFEC-EAF0-4DEF-8D67-AA59C696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Use this sequence on short-answer problems, especially when several unit conversions are involved.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9DDE3B02-219A-4649-B2C3-47D4813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07FDF9CA-B50A-4303-95BC-030B6494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D3A048-B927-4A02-8FCC-0A0B56B3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15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E66A0952-FE94-4A2F-972B-B216BD5F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step1">
            <a:extLst xmlns:a="http://schemas.openxmlformats.org/drawingml/2006/main">
              <a:ext uri="{FF2B5EF4-FFF2-40B4-BE49-F238E27FC236}">
                <a16:creationId xmlns:a16="http://schemas.microsoft.com/office/drawing/2014/main" id="{BCC0CFC5-AFCC-49FF-8B47-A85E1A6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8" name="step1b">
            <a:extLst xmlns:a="http://schemas.openxmlformats.org/drawingml/2006/main">
              <a:ext uri="{FF2B5EF4-FFF2-40B4-BE49-F238E27FC236}">
                <a16:creationId xmlns:a16="http://schemas.microsoft.com/office/drawing/2014/main" id="{FFB29FB8-C8D0-4027-BB2B-0521A534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76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Name the unknown and write the equation before substituting numbers.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30A4C9E1-1E34-42B7-B664-29589F17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2">
            <a:extLst xmlns:a="http://schemas.openxmlformats.org/drawingml/2006/main">
              <a:ext uri="{FF2B5EF4-FFF2-40B4-BE49-F238E27FC236}">
                <a16:creationId xmlns:a16="http://schemas.microsoft.com/office/drawing/2014/main" id="{2BA4126A-43BE-4864-9076-11F9D6BF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1" name="step2b">
            <a:extLst xmlns:a="http://schemas.openxmlformats.org/drawingml/2006/main">
              <a:ext uri="{FF2B5EF4-FFF2-40B4-BE49-F238E27FC236}">
                <a16:creationId xmlns:a16="http://schemas.microsoft.com/office/drawing/2014/main" id="{84672A31-EA59-4811-8555-147DBDA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76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Convert units first: liters for molarity; grams for mass; consistent lengths for polymers.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35FE7A42-F52C-47BF-89C3-A6C2C5A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3">
            <a:extLst xmlns:a="http://schemas.openxmlformats.org/drawingml/2006/main">
              <a:ext uri="{FF2B5EF4-FFF2-40B4-BE49-F238E27FC236}">
                <a16:creationId xmlns:a16="http://schemas.microsoft.com/office/drawing/2014/main" id="{A8431B64-8148-4DAB-A731-1778F78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4" name="step3b">
            <a:extLst xmlns:a="http://schemas.openxmlformats.org/drawingml/2006/main">
              <a:ext uri="{FF2B5EF4-FFF2-40B4-BE49-F238E27FC236}">
                <a16:creationId xmlns:a16="http://schemas.microsoft.com/office/drawing/2014/main" id="{55FF2E78-5030-48F0-98A9-A644FB63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76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Keep “per cell,” “per second,” and “per machine” explicit in the final units.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1BFE1566-E09B-4852-BB9D-6A1063A6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4">
            <a:extLst xmlns:a="http://schemas.openxmlformats.org/drawingml/2006/main">
              <a:ext uri="{FF2B5EF4-FFF2-40B4-BE49-F238E27FC236}">
                <a16:creationId xmlns:a16="http://schemas.microsoft.com/office/drawing/2014/main" id="{CB6D86B5-418E-436E-90B6-6BDD099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17" name="step4b">
            <a:extLst xmlns:a="http://schemas.openxmlformats.org/drawingml/2006/main">
              <a:ext uri="{FF2B5EF4-FFF2-40B4-BE49-F238E27FC236}">
                <a16:creationId xmlns:a16="http://schemas.microsoft.com/office/drawing/2014/main" id="{36D19454-E1C9-4998-B555-B5D2087A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76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Sanity-check the scale against a known cell, molecule, time, or length.</a:t>
            </a:r>
          </a:p>
        </p:txBody>
      </p:sp>
      <p:sp>
        <p:nvSpPr>
          <p:cNvPr id="18" name="constants-head">
            <a:extLst xmlns:a="http://schemas.openxmlformats.org/drawingml/2006/main">
              <a:ext uri="{FF2B5EF4-FFF2-40B4-BE49-F238E27FC236}">
                <a16:creationId xmlns:a16="http://schemas.microsoft.com/office/drawing/2014/main" id="{D11BF27C-8B9E-48D5-9DD6-78286E7C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COURSE VALUES THAT REAPPEAR</a:t>
            </a:r>
          </a:p>
        </p:txBody>
      </p:sp>
      <p:sp>
        <p:nvSpPr>
          <p:cNvPr id="19" name="constants">
            <a:extLst xmlns:a="http://schemas.openxmlformats.org/drawingml/2006/main">
              <a:ext uri="{FF2B5EF4-FFF2-40B4-BE49-F238E27FC236}">
                <a16:creationId xmlns:a16="http://schemas.microsoft.com/office/drawing/2014/main" id="{13873DD1-C3A4-4524-97C2-82E34411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1 μm³ = 1 fL = 10⁻¹⁵ L   ·   Nₐ = 6.02 × 10²³ mol⁻¹   ·   kBT ≈ 4.1 pN·nm</a:t>
            </a:r>
          </a:p>
          <a:p xmlns:a="http://schemas.openxmlformats.org/drawingml/2006/main">
            <a:pPr algn="l">
              <a:defRPr sz="135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E. coli: V ≈ 1 μm³   ·   cycle ≈ 3000 s   ·   Dprotein ≈ 100 μm²/s   ·   ξₚ(dsDNA) ≈ 50 nm</a:t>
            </a:r>
          </a:p>
        </p:txBody>
      </p:sp>
    </p:spTree>
    <p:extLst>
      <p:ext uri="{BB962C8B-B14F-4D97-AF65-F5344CB8AC3E}">
        <p14:creationId xmlns:p14="http://schemas.microsoft.com/office/powerpoint/2010/main" val="5454110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BAAB4C-D96A-40A7-B0B6-B0266A21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2F7FA"/>
                </a:solidFill>
                <a:latin typeface="Roboto"/>
                <a:ea typeface="Roboto"/>
                <a:cs typeface="Roboto"/>
              </a:rPr>
              <a:t>Values worth memorizing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9642B2-C9A4-401A-8D6B-29E0411A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A7BDCC"/>
                </a:solidFill>
                <a:latin typeface="Roboto"/>
                <a:ea typeface="Roboto"/>
                <a:cs typeface="Roboto"/>
              </a:rPr>
              <a:t>These course-scale values let you estimate before you reach for a calculator.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5F82257C-D9F4-4382-AAEE-B88584B0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8CC8E73D-539F-448F-9AC5-9735F96B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395603-E863-4390-B941-BCDE2812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D9E8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4D9E8"/>
                </a:solidFill>
                <a:latin typeface="Roboto"/>
                <a:ea typeface="Roboto"/>
                <a:cs typeface="Roboto"/>
              </a:rPr>
              <a:t>16</a:t>
            </a:r>
          </a:p>
        </p:txBody>
      </p:sp>
      <p:sp>
        <p:nvSpPr>
          <p:cNvPr id="6" name="course-mark">
            <a:extLst xmlns:a="http://schemas.openxmlformats.org/drawingml/2006/main">
              <a:ext uri="{FF2B5EF4-FFF2-40B4-BE49-F238E27FC236}">
                <a16:creationId xmlns:a16="http://schemas.microsoft.com/office/drawing/2014/main" id="{D4B0431A-F486-4772-A5BF-6D3CA8E1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DCC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A7BDCC"/>
                </a:solidFill>
                <a:latin typeface="Roboto"/>
                <a:ea typeface="Roboto"/>
                <a:cs typeface="Roboto"/>
              </a:rPr>
              <a:t>BIOCHEM 610  ·  EQUATION REVIEW</a:t>
            </a:r>
          </a:p>
        </p:txBody>
      </p:sp>
      <p:sp>
        <p:nvSpPr>
          <p:cNvPr id="7" name="values-head-0">
            <a:extLst xmlns:a="http://schemas.openxmlformats.org/drawingml/2006/main">
              <a:ext uri="{FF2B5EF4-FFF2-40B4-BE49-F238E27FC236}">
                <a16:creationId xmlns:a16="http://schemas.microsoft.com/office/drawing/2014/main" id="{22CBFC9C-244B-4B84-B32D-B7A75DF5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THERMAL ENERGY &amp; BONDS</a:t>
            </a:r>
          </a:p>
        </p:txBody>
      </p:sp>
      <p:sp>
        <p:nvSpPr>
          <p:cNvPr id="8" name="values-body-0">
            <a:extLst xmlns:a="http://schemas.openxmlformats.org/drawingml/2006/main">
              <a:ext uri="{FF2B5EF4-FFF2-40B4-BE49-F238E27FC236}">
                <a16:creationId xmlns:a16="http://schemas.microsoft.com/office/drawing/2014/main" id="{B2E38490-CF67-41FF-BB75-E753E028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238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kBT = 4.1 pN·nm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      = 4.1 × 10⁻²¹ J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RT ≈ 2.5 kJ/mol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      ≈ 0.60 kcal/mol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RT ln 10 ≈ 5.7 kJ/mol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Hydrogen bond ≈ 20 kJ/mol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C–C covalent bond ≈ 350 kJ/mol</a:t>
            </a:r>
          </a:p>
        </p:txBody>
      </p:sp>
      <p:sp>
        <p:nvSpPr>
          <p:cNvPr id="9" name="values-head-1">
            <a:extLst xmlns:a="http://schemas.openxmlformats.org/drawingml/2006/main">
              <a:ext uri="{FF2B5EF4-FFF2-40B4-BE49-F238E27FC236}">
                <a16:creationId xmlns:a16="http://schemas.microsoft.com/office/drawing/2014/main" id="{08BC4CF9-3E9E-46B9-97B5-D098A5F9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28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E. COLI SCALE</a:t>
            </a:r>
          </a:p>
        </p:txBody>
      </p:sp>
      <p:sp>
        <p:nvSpPr>
          <p:cNvPr id="10" name="values-body-1">
            <a:extLst xmlns:a="http://schemas.openxmlformats.org/drawingml/2006/main">
              <a:ext uri="{FF2B5EF4-FFF2-40B4-BE49-F238E27FC236}">
                <a16:creationId xmlns:a16="http://schemas.microsoft.com/office/drawing/2014/main" id="{A2163644-4B8C-4DBA-8E97-8CF7835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3238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Length: 1–2 μm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Diameter: 0.5–1 μm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Volume: 1 μm³ = 1 fL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             = 10⁻¹⁵ L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Surface area: ≈ 6 μm²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Cell cycle: ≈ 3000 s</a:t>
            </a:r>
          </a:p>
          <a:p xmlns:a="http://schemas.openxmlformats.org/drawingml/2006/main">
            <a:pPr algn="l">
              <a:defRPr sz="157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Genome: 4.6 × 10⁶ bp</a:t>
            </a:r>
          </a:p>
        </p:txBody>
      </p:sp>
      <p:sp>
        <p:nvSpPr>
          <p:cNvPr id="11" name="values-head-2">
            <a:extLst xmlns:a="http://schemas.openxmlformats.org/drawingml/2006/main">
              <a:ext uri="{FF2B5EF4-FFF2-40B4-BE49-F238E27FC236}">
                <a16:creationId xmlns:a16="http://schemas.microsoft.com/office/drawing/2014/main" id="{F30D6E60-439B-404F-8F5A-33C00F5A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66E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FFC66E"/>
                </a:solidFill>
                <a:latin typeface="Roboto"/>
                <a:ea typeface="Roboto"/>
                <a:cs typeface="Roboto"/>
              </a:rPr>
              <a:t>MOLECULES &amp; RATES</a:t>
            </a:r>
          </a:p>
        </p:txBody>
      </p:sp>
      <p:sp>
        <p:nvSpPr>
          <p:cNvPr id="12" name="values-body-2">
            <a:extLst xmlns:a="http://schemas.openxmlformats.org/drawingml/2006/main">
              <a:ext uri="{FF2B5EF4-FFF2-40B4-BE49-F238E27FC236}">
                <a16:creationId xmlns:a16="http://schemas.microsoft.com/office/drawing/2014/main" id="{92D3FB49-DEDF-4561-9C49-10AA60F6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238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Protein copies: ≈ 3 × 10⁶/cell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Ribosomes: ≈ 2 × 10⁴/cell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DNA rise: 0.34 nm/bp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dsDNA persistence: ≈ 50 nm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Translation: ≈ 20 aa/s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Transcription: ≈ 40 nt/s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Replication: ≈ 1000 bp/s/fork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Protein diffusion: ≈ 100 μm²/s</a:t>
            </a:r>
          </a:p>
          <a:p xmlns:a="http://schemas.openxmlformats.org/drawingml/2006/main">
            <a:pPr algn="l">
              <a:defRPr sz="1425" b="0">
                <a:solidFill>
                  <a:srgbClr val="F2F7FA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F2F7FA"/>
                </a:solidFill>
                <a:latin typeface="Roboto"/>
                <a:ea typeface="Roboto"/>
                <a:cs typeface="Roboto"/>
              </a:rPr>
              <a:t>Kinesin: ≈ 1 μm/s</a:t>
            </a:r>
          </a:p>
        </p:txBody>
      </p:sp>
      <p:sp>
        <p:nvSpPr>
          <p:cNvPr id="13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836293DF-C890-4D98-8355-9A2F56CD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BB52833B-37E5-460D-9F49-AE028A4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7915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2026-10-05T14:11:26.7380000Z</dcterms:created>
  <dcterms:modified xsi:type="dcterms:W3CDTF">2026-10-05T14:11:26.7380000Z</dcterms:modified>
</coreProperties>
</file>